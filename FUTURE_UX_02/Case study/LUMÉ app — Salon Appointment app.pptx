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 Bold" charset="1" panose="02000503000000020004"/>
      <p:regular r:id="rId25"/>
    </p:embeddedFont>
    <p:embeddedFont>
      <p:font typeface="Cormorant Garamond" charset="1" panose="00000500000000000000"/>
      <p:regular r:id="rId26"/>
    </p:embeddedFont>
    <p:embeddedFont>
      <p:font typeface="Cormorant Garamond Italics" charset="1" panose="00000500000000000000"/>
      <p:regular r:id="rId27"/>
    </p:embeddedFont>
    <p:embeddedFont>
      <p:font typeface="Inter" charset="1" panose="0200050300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44340"/>
            <a:ext cx="882967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UI/UX DESIGN  |  MOBILE APP  |  2026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95213" y="1391755"/>
            <a:ext cx="4702361" cy="82350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08590" y="1332634"/>
            <a:ext cx="4703644" cy="823729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28484" y="-153516"/>
            <a:ext cx="6049383" cy="1059403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19200" y="3509010"/>
            <a:ext cx="4960858" cy="200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LUMÉ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5537854"/>
            <a:ext cx="575607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4100" i="true">
                <a:solidFill>
                  <a:srgbClr val="9A5F5C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Salon Appointment, Simplified.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9183030"/>
            <a:ext cx="723880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Mobile appointment booking experience for a modern salon.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811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8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01 — THE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888569"/>
            <a:ext cx="10595610" cy="113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066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Booking a salon appointment shouldn’t feel like a conversation.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4317444"/>
            <a:ext cx="2400300" cy="3146708"/>
            <a:chOff x="0" y="0"/>
            <a:chExt cx="3200400" cy="41956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0400" cy="4195572"/>
            </a:xfrm>
            <a:custGeom>
              <a:avLst/>
              <a:gdLst/>
              <a:ahLst/>
              <a:cxnLst/>
              <a:rect r="r" b="b" t="t" l="l"/>
              <a:pathLst>
                <a:path h="4195572" w="3200400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2951734" y="0"/>
                  </a:lnTo>
                  <a:cubicBezTo>
                    <a:pt x="3089021" y="0"/>
                    <a:pt x="3200400" y="111379"/>
                    <a:pt x="3200400" y="248666"/>
                  </a:cubicBezTo>
                  <a:lnTo>
                    <a:pt x="3200400" y="3946906"/>
                  </a:lnTo>
                  <a:cubicBezTo>
                    <a:pt x="3200400" y="4084193"/>
                    <a:pt x="3089021" y="4195572"/>
                    <a:pt x="2951734" y="4195572"/>
                  </a:cubicBezTo>
                  <a:lnTo>
                    <a:pt x="248666" y="4195572"/>
                  </a:lnTo>
                  <a:cubicBezTo>
                    <a:pt x="111379" y="4195572"/>
                    <a:pt x="0" y="4084320"/>
                    <a:pt x="0" y="3946906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848100" y="4317444"/>
            <a:ext cx="2400300" cy="3146708"/>
            <a:chOff x="0" y="0"/>
            <a:chExt cx="3200400" cy="41956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0400" cy="4195572"/>
            </a:xfrm>
            <a:custGeom>
              <a:avLst/>
              <a:gdLst/>
              <a:ahLst/>
              <a:cxnLst/>
              <a:rect r="r" b="b" t="t" l="l"/>
              <a:pathLst>
                <a:path h="4195572" w="3200400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2951734" y="0"/>
                  </a:lnTo>
                  <a:cubicBezTo>
                    <a:pt x="3089021" y="0"/>
                    <a:pt x="3200400" y="111379"/>
                    <a:pt x="3200400" y="248666"/>
                  </a:cubicBezTo>
                  <a:lnTo>
                    <a:pt x="3200400" y="3946906"/>
                  </a:lnTo>
                  <a:cubicBezTo>
                    <a:pt x="3200400" y="4084193"/>
                    <a:pt x="3089021" y="4195572"/>
                    <a:pt x="2951734" y="4195572"/>
                  </a:cubicBezTo>
                  <a:lnTo>
                    <a:pt x="248666" y="4195572"/>
                  </a:lnTo>
                  <a:cubicBezTo>
                    <a:pt x="111379" y="4195572"/>
                    <a:pt x="0" y="4084320"/>
                    <a:pt x="0" y="3946906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477000" y="4317444"/>
            <a:ext cx="2400300" cy="3146708"/>
            <a:chOff x="0" y="0"/>
            <a:chExt cx="3200400" cy="41956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0400" cy="4195572"/>
            </a:xfrm>
            <a:custGeom>
              <a:avLst/>
              <a:gdLst/>
              <a:ahLst/>
              <a:cxnLst/>
              <a:rect r="r" b="b" t="t" l="l"/>
              <a:pathLst>
                <a:path h="4195572" w="3200400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2951734" y="0"/>
                  </a:lnTo>
                  <a:cubicBezTo>
                    <a:pt x="3089021" y="0"/>
                    <a:pt x="3200400" y="111379"/>
                    <a:pt x="3200400" y="248666"/>
                  </a:cubicBezTo>
                  <a:lnTo>
                    <a:pt x="3200400" y="3946906"/>
                  </a:lnTo>
                  <a:cubicBezTo>
                    <a:pt x="3200400" y="4084193"/>
                    <a:pt x="3089021" y="4195572"/>
                    <a:pt x="2951734" y="4195572"/>
                  </a:cubicBezTo>
                  <a:lnTo>
                    <a:pt x="248666" y="4195572"/>
                  </a:lnTo>
                  <a:cubicBezTo>
                    <a:pt x="111379" y="4195572"/>
                    <a:pt x="0" y="4084320"/>
                    <a:pt x="0" y="3946906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05900" y="4317444"/>
            <a:ext cx="2400300" cy="3146708"/>
            <a:chOff x="0" y="0"/>
            <a:chExt cx="3200400" cy="4195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00400" cy="4195572"/>
            </a:xfrm>
            <a:custGeom>
              <a:avLst/>
              <a:gdLst/>
              <a:ahLst/>
              <a:cxnLst/>
              <a:rect r="r" b="b" t="t" l="l"/>
              <a:pathLst>
                <a:path h="4195572" w="3200400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2951734" y="0"/>
                  </a:lnTo>
                  <a:cubicBezTo>
                    <a:pt x="3089021" y="0"/>
                    <a:pt x="3200400" y="111379"/>
                    <a:pt x="3200400" y="248666"/>
                  </a:cubicBezTo>
                  <a:lnTo>
                    <a:pt x="3200400" y="3946906"/>
                  </a:lnTo>
                  <a:cubicBezTo>
                    <a:pt x="3200400" y="4084193"/>
                    <a:pt x="3089021" y="4195572"/>
                    <a:pt x="2951734" y="4195572"/>
                  </a:cubicBezTo>
                  <a:lnTo>
                    <a:pt x="248666" y="4195572"/>
                  </a:lnTo>
                  <a:cubicBezTo>
                    <a:pt x="111379" y="4195572"/>
                    <a:pt x="0" y="4084320"/>
                    <a:pt x="0" y="3946906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19200" y="7788002"/>
            <a:ext cx="10459237" cy="47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773" i="true">
                <a:solidFill>
                  <a:srgbClr val="9A5F5C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How might we make salon appointment booking simple, transparent and effortless?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04412" y="833422"/>
            <a:ext cx="7661065" cy="9190776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219200" y="3254816"/>
            <a:ext cx="9810750" cy="7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829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Salon bookings often rely on calls and WhatsApp, making services, pricing and availability hard to understand.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620" y="4525089"/>
            <a:ext cx="185166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1620" y="5723334"/>
            <a:ext cx="185166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Unclear service information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0520" y="4525089"/>
            <a:ext cx="185166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60520" y="5723334"/>
            <a:ext cx="185166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Back-and-forth booking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89420" y="4525089"/>
            <a:ext cx="185166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89420" y="5723334"/>
            <a:ext cx="18516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Scheduling confusion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18320" y="4553664"/>
            <a:ext cx="1851660" cy="81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982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8320" y="5464016"/>
            <a:ext cx="1851660" cy="172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265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No centralized appointment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81100"/>
            <a:ext cx="16325088" cy="30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40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02 — RESEARCH &amp; 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12620"/>
            <a:ext cx="16325088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995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Understanding the booking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851785"/>
            <a:ext cx="78486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SECONDARY RESEARCH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3333750"/>
            <a:ext cx="78486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Reviewed common salon booking patterns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3882390"/>
            <a:ext cx="78486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Studied appointment management experiences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4431030"/>
            <a:ext cx="78486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Identified recurring customer pain points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8800" y="2851785"/>
            <a:ext cx="7848600" cy="36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b="true" sz="1632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COMPETITIVE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8800" y="3298508"/>
            <a:ext cx="7848600" cy="41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16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Compared service discovery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8800" y="3803447"/>
            <a:ext cx="7848600" cy="4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16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Evaluated booking flows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8800" y="4308519"/>
            <a:ext cx="7848600" cy="4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16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Studied availability and confirmation patterns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8800" y="4813583"/>
            <a:ext cx="7848600" cy="4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16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Reviewed appointment management features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9200" y="5537711"/>
            <a:ext cx="3790950" cy="3225279"/>
            <a:chOff x="0" y="0"/>
            <a:chExt cx="5054600" cy="4300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4600" cy="4300347"/>
            </a:xfrm>
            <a:custGeom>
              <a:avLst/>
              <a:gdLst/>
              <a:ahLst/>
              <a:cxnLst/>
              <a:rect r="r" b="b" t="t" l="l"/>
              <a:pathLst>
                <a:path h="4300347" w="50546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4755261" y="0"/>
                  </a:lnTo>
                  <a:cubicBezTo>
                    <a:pt x="4920615" y="0"/>
                    <a:pt x="5054600" y="133985"/>
                    <a:pt x="5054600" y="299339"/>
                  </a:cubicBezTo>
                  <a:lnTo>
                    <a:pt x="5054600" y="4001008"/>
                  </a:lnTo>
                  <a:cubicBezTo>
                    <a:pt x="5054600" y="4166362"/>
                    <a:pt x="4920615" y="4300347"/>
                    <a:pt x="4755261" y="4300347"/>
                  </a:cubicBezTo>
                  <a:lnTo>
                    <a:pt x="299339" y="4300347"/>
                  </a:lnTo>
                  <a:cubicBezTo>
                    <a:pt x="133985" y="4300347"/>
                    <a:pt x="0" y="4166362"/>
                    <a:pt x="0" y="4001008"/>
                  </a:cubicBezTo>
                  <a:close/>
                </a:path>
              </a:pathLst>
            </a:custGeom>
            <a:solidFill>
              <a:srgbClr val="EFE5DB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69720" y="6040641"/>
            <a:ext cx="3182607" cy="89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9"/>
              </a:lnSpc>
            </a:pPr>
            <a:r>
              <a:rPr lang="en-US" sz="7959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9720" y="7149465"/>
            <a:ext cx="3182607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938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Customers need clear service information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38750" y="5537711"/>
            <a:ext cx="3790950" cy="3225279"/>
            <a:chOff x="0" y="0"/>
            <a:chExt cx="5054600" cy="43003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4600" cy="4300347"/>
            </a:xfrm>
            <a:custGeom>
              <a:avLst/>
              <a:gdLst/>
              <a:ahLst/>
              <a:cxnLst/>
              <a:rect r="r" b="b" t="t" l="l"/>
              <a:pathLst>
                <a:path h="4300347" w="50546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4755261" y="0"/>
                  </a:lnTo>
                  <a:cubicBezTo>
                    <a:pt x="4920615" y="0"/>
                    <a:pt x="5054600" y="133985"/>
                    <a:pt x="5054600" y="299339"/>
                  </a:cubicBezTo>
                  <a:lnTo>
                    <a:pt x="5054600" y="4001008"/>
                  </a:lnTo>
                  <a:cubicBezTo>
                    <a:pt x="5054600" y="4166362"/>
                    <a:pt x="4920615" y="4300347"/>
                    <a:pt x="4755261" y="4300347"/>
                  </a:cubicBezTo>
                  <a:lnTo>
                    <a:pt x="299339" y="4300347"/>
                  </a:lnTo>
                  <a:cubicBezTo>
                    <a:pt x="133985" y="4300347"/>
                    <a:pt x="0" y="4166362"/>
                    <a:pt x="0" y="4001008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589270" y="6040641"/>
            <a:ext cx="3182607" cy="89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9"/>
              </a:lnSpc>
            </a:pPr>
            <a:r>
              <a:rPr lang="en-US" sz="7959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9270" y="7149465"/>
            <a:ext cx="3182607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938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Booking should require minimal effort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58300" y="5537711"/>
            <a:ext cx="3790950" cy="3225279"/>
            <a:chOff x="0" y="0"/>
            <a:chExt cx="5054600" cy="43003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54600" cy="4300347"/>
            </a:xfrm>
            <a:custGeom>
              <a:avLst/>
              <a:gdLst/>
              <a:ahLst/>
              <a:cxnLst/>
              <a:rect r="r" b="b" t="t" l="l"/>
              <a:pathLst>
                <a:path h="4300347" w="50546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4755261" y="0"/>
                  </a:lnTo>
                  <a:cubicBezTo>
                    <a:pt x="4920615" y="0"/>
                    <a:pt x="5054600" y="133985"/>
                    <a:pt x="5054600" y="299339"/>
                  </a:cubicBezTo>
                  <a:lnTo>
                    <a:pt x="5054600" y="4001008"/>
                  </a:lnTo>
                  <a:cubicBezTo>
                    <a:pt x="5054600" y="4166362"/>
                    <a:pt x="4920615" y="4300347"/>
                    <a:pt x="4755261" y="4300347"/>
                  </a:cubicBezTo>
                  <a:lnTo>
                    <a:pt x="299339" y="4300347"/>
                  </a:lnTo>
                  <a:cubicBezTo>
                    <a:pt x="133985" y="4300347"/>
                    <a:pt x="0" y="4166362"/>
                    <a:pt x="0" y="4001008"/>
                  </a:cubicBezTo>
                  <a:close/>
                </a:path>
              </a:pathLst>
            </a:custGeom>
            <a:solidFill>
              <a:srgbClr val="EFE5DB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608820" y="6040641"/>
            <a:ext cx="3182607" cy="89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9"/>
              </a:lnSpc>
            </a:pPr>
            <a:r>
              <a:rPr lang="en-US" sz="7959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8820" y="7149465"/>
            <a:ext cx="3182607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938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Users need confidence after confirming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277850" y="5537711"/>
            <a:ext cx="3790950" cy="3225279"/>
            <a:chOff x="0" y="0"/>
            <a:chExt cx="5054600" cy="4300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4600" cy="4300347"/>
            </a:xfrm>
            <a:custGeom>
              <a:avLst/>
              <a:gdLst/>
              <a:ahLst/>
              <a:cxnLst/>
              <a:rect r="r" b="b" t="t" l="l"/>
              <a:pathLst>
                <a:path h="4300347" w="5054600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4755261" y="0"/>
                  </a:lnTo>
                  <a:cubicBezTo>
                    <a:pt x="4920615" y="0"/>
                    <a:pt x="5054600" y="133985"/>
                    <a:pt x="5054600" y="299339"/>
                  </a:cubicBezTo>
                  <a:lnTo>
                    <a:pt x="5054600" y="4001008"/>
                  </a:lnTo>
                  <a:cubicBezTo>
                    <a:pt x="5054600" y="4166362"/>
                    <a:pt x="4920615" y="4300347"/>
                    <a:pt x="4755261" y="4300347"/>
                  </a:cubicBezTo>
                  <a:lnTo>
                    <a:pt x="299339" y="4300347"/>
                  </a:lnTo>
                  <a:cubicBezTo>
                    <a:pt x="133985" y="4300347"/>
                    <a:pt x="0" y="4166362"/>
                    <a:pt x="0" y="4001008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628370" y="6040641"/>
            <a:ext cx="3182607" cy="89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9"/>
              </a:lnSpc>
            </a:pPr>
            <a:r>
              <a:rPr lang="en-US" sz="7959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28370" y="7149465"/>
            <a:ext cx="3182607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938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Returning customers need faster rebooking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971800"/>
            <a:ext cx="4572000" cy="5196840"/>
            <a:chOff x="0" y="0"/>
            <a:chExt cx="6096000" cy="6929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6929120"/>
            </a:xfrm>
            <a:custGeom>
              <a:avLst/>
              <a:gdLst/>
              <a:ahLst/>
              <a:cxnLst/>
              <a:rect r="r" b="b" t="t" l="l"/>
              <a:pathLst>
                <a:path h="6929120" w="6096000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lnTo>
                    <a:pt x="5745988" y="0"/>
                  </a:lnTo>
                  <a:cubicBezTo>
                    <a:pt x="5939282" y="0"/>
                    <a:pt x="6096000" y="156718"/>
                    <a:pt x="6096000" y="350012"/>
                  </a:cubicBezTo>
                  <a:lnTo>
                    <a:pt x="6096000" y="6579108"/>
                  </a:lnTo>
                  <a:cubicBezTo>
                    <a:pt x="6096000" y="6772401"/>
                    <a:pt x="5939282" y="6929120"/>
                    <a:pt x="5745988" y="6929120"/>
                  </a:cubicBezTo>
                  <a:lnTo>
                    <a:pt x="350012" y="6929120"/>
                  </a:lnTo>
                  <a:cubicBezTo>
                    <a:pt x="156718" y="6929120"/>
                    <a:pt x="0" y="6772402"/>
                    <a:pt x="0" y="6579108"/>
                  </a:cubicBezTo>
                  <a:close/>
                </a:path>
              </a:pathLst>
            </a:custGeom>
            <a:blipFill>
              <a:blip r:embed="rId3"/>
              <a:stretch>
                <a:fillRect l="-5763" t="0" r="-5763" b="0"/>
              </a:stretch>
            </a:blip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0040">
            <a:off x="6391246" y="2976562"/>
            <a:ext cx="3270228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20040">
            <a:off x="10099567" y="2976562"/>
            <a:ext cx="3270342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0040">
            <a:off x="13808012" y="2976562"/>
            <a:ext cx="3270342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118110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03 — USER PERSONAS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1967865"/>
            <a:ext cx="16325088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Designing for a busy, returning customer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4020" y="6155055"/>
            <a:ext cx="375163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Maya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020" y="7193280"/>
            <a:ext cx="3751631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9F5"/>
                </a:solidFill>
                <a:latin typeface="Inter"/>
                <a:ea typeface="Inter"/>
                <a:cs typeface="Inter"/>
                <a:sym typeface="Inter"/>
              </a:rPr>
              <a:t>Busy professional and regular salon customer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0" y="3177540"/>
            <a:ext cx="334865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GOALS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0" y="3697605"/>
            <a:ext cx="3348657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Book without calling or messaging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0800" y="4680585"/>
            <a:ext cx="3348657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Know price and duration upfront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0800" y="5663565"/>
            <a:ext cx="3348657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Keep appointments organised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09121" y="3177540"/>
            <a:ext cx="33487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FRUSTRATIONS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9121" y="3697605"/>
            <a:ext cx="334878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Waiting for replies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9121" y="428434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Unsure which slots are free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9121" y="526732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Forgetting booked appointments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17565" y="3177540"/>
            <a:ext cx="33487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NEEDS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17565" y="3697605"/>
            <a:ext cx="334878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Clear service details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17565" y="428434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Fast rebooking of regular services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7565" y="526732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Confirmation and reminders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971800"/>
            <a:ext cx="4572000" cy="5196840"/>
            <a:chOff x="0" y="0"/>
            <a:chExt cx="6096000" cy="6929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6929120"/>
            </a:xfrm>
            <a:custGeom>
              <a:avLst/>
              <a:gdLst/>
              <a:ahLst/>
              <a:cxnLst/>
              <a:rect r="r" b="b" t="t" l="l"/>
              <a:pathLst>
                <a:path h="6929120" w="6096000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lnTo>
                    <a:pt x="5745988" y="0"/>
                  </a:lnTo>
                  <a:cubicBezTo>
                    <a:pt x="5939282" y="0"/>
                    <a:pt x="6096000" y="156718"/>
                    <a:pt x="6096000" y="350012"/>
                  </a:cubicBezTo>
                  <a:lnTo>
                    <a:pt x="6096000" y="6579108"/>
                  </a:lnTo>
                  <a:cubicBezTo>
                    <a:pt x="6096000" y="6772401"/>
                    <a:pt x="5939282" y="6929120"/>
                    <a:pt x="5745988" y="6929120"/>
                  </a:cubicBezTo>
                  <a:lnTo>
                    <a:pt x="350012" y="6929120"/>
                  </a:lnTo>
                  <a:cubicBezTo>
                    <a:pt x="156718" y="6929120"/>
                    <a:pt x="0" y="6772402"/>
                    <a:pt x="0" y="6579108"/>
                  </a:cubicBezTo>
                  <a:close/>
                </a:path>
              </a:pathLst>
            </a:custGeom>
            <a:blipFill>
              <a:blip r:embed="rId3"/>
              <a:stretch>
                <a:fillRect l="0" t="-4912" r="0" b="-4912"/>
              </a:stretch>
            </a:blip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0040">
            <a:off x="6391246" y="2976562"/>
            <a:ext cx="3270228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20040">
            <a:off x="10099567" y="2976562"/>
            <a:ext cx="3270342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0040">
            <a:off x="13808012" y="2976562"/>
            <a:ext cx="3270342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118110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03 — USER PERSONAS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1967865"/>
            <a:ext cx="16325088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Designing for a first-time customer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4020" y="6284595"/>
            <a:ext cx="375163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Rohan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020" y="7151370"/>
            <a:ext cx="3751631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9F5"/>
                </a:solidFill>
                <a:latin typeface="Inter"/>
                <a:ea typeface="Inter"/>
                <a:cs typeface="Inter"/>
                <a:sym typeface="Inter"/>
              </a:rPr>
              <a:t>New customer trying a salon for the first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0" y="3177540"/>
            <a:ext cx="334865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GOALS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0" y="3697605"/>
            <a:ext cx="3348657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Understand services before visiting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0800" y="4680585"/>
            <a:ext cx="3348657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Compare stylists and time slots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0800" y="5663565"/>
            <a:ext cx="3348657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Book with confidence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09121" y="3177540"/>
            <a:ext cx="33487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FRUSTRATIONS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9121" y="3697605"/>
            <a:ext cx="334878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Unsure about pricing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9121" y="428434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No idea who the stylist 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9121" y="526732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Awkward back-and-forth to get a slot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17565" y="3177540"/>
            <a:ext cx="33487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NEEDS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17565" y="369760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Clear description, price and duration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17565" y="468058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Simple step-by-step flow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7565" y="5663565"/>
            <a:ext cx="33487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Clear confirmation before booking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81100"/>
            <a:ext cx="16325088" cy="30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40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04 — FROM INSIGHT TO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07858"/>
            <a:ext cx="16325088" cy="69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5079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Designing around the real friction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867854"/>
            <a:ext cx="6082665" cy="36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15300" y="2867854"/>
            <a:ext cx="2713339" cy="36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LUMÉ SOLUTION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214438" y="3304461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3502104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Unclear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0" y="3502104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9100" y="3403168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Clear description + price + duration</a:t>
            </a:r>
          </a:p>
        </p:txBody>
      </p:sp>
      <p:sp>
        <p:nvSpPr>
          <p:cNvPr name="AutoShape 10" id="10"/>
          <p:cNvSpPr/>
          <p:nvPr/>
        </p:nvSpPr>
        <p:spPr>
          <a:xfrm rot="2040">
            <a:off x="1214438" y="4214212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9200" y="4411866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Complex booking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9500" y="4411866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9100" y="4312920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Focused step-by-step booking flow</a:t>
            </a:r>
          </a:p>
        </p:txBody>
      </p:sp>
      <p:sp>
        <p:nvSpPr>
          <p:cNvPr name="AutoShape 14" id="14"/>
          <p:cNvSpPr/>
          <p:nvPr/>
        </p:nvSpPr>
        <p:spPr>
          <a:xfrm rot="2040">
            <a:off x="1214438" y="5123974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19200" y="5321617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Booking uncertainty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0" y="5321617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39100" y="5222672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Clear confirmation screen</a:t>
            </a:r>
          </a:p>
        </p:txBody>
      </p:sp>
      <p:sp>
        <p:nvSpPr>
          <p:cNvPr name="AutoShape 18" id="18"/>
          <p:cNvSpPr/>
          <p:nvPr/>
        </p:nvSpPr>
        <p:spPr>
          <a:xfrm rot="2040">
            <a:off x="1214438" y="6033726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19200" y="6231369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Forgotten appointments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0" y="6231369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9100" y="6132433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Booking reminders</a:t>
            </a:r>
          </a:p>
        </p:txBody>
      </p:sp>
      <p:sp>
        <p:nvSpPr>
          <p:cNvPr name="AutoShape 22" id="22"/>
          <p:cNvSpPr/>
          <p:nvPr/>
        </p:nvSpPr>
        <p:spPr>
          <a:xfrm rot="2040">
            <a:off x="1214438" y="6943487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19200" y="7141131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Difficult appointment tracking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29500" y="7141131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39100" y="7042185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Upcoming bookings</a:t>
            </a:r>
          </a:p>
        </p:txBody>
      </p:sp>
      <p:sp>
        <p:nvSpPr>
          <p:cNvPr name="AutoShape 26" id="26"/>
          <p:cNvSpPr/>
          <p:nvPr/>
        </p:nvSpPr>
        <p:spPr>
          <a:xfrm rot="2040">
            <a:off x="1214438" y="7853248"/>
            <a:ext cx="15859125" cy="0"/>
          </a:xfrm>
          <a:prstGeom prst="line">
            <a:avLst/>
          </a:prstGeom>
          <a:ln cap="rnd" w="9525">
            <a:solidFill>
              <a:srgbClr val="D8A7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219200" y="8050892"/>
            <a:ext cx="608266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Repetitive rebooking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29500" y="8050892"/>
            <a:ext cx="3810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39100" y="7951946"/>
            <a:ext cx="9300591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One-tap rebook previous 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25200" y="1352550"/>
            <a:ext cx="59436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</a:pPr>
            <a:r>
              <a:rPr lang="en-US" sz="4200" i="true">
                <a:solidFill>
                  <a:srgbClr val="A64B1A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Less friction. More clarity.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8110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05 — USER FLOWS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29765"/>
            <a:ext cx="16325088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Two paths, one goal: a confirmed booking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828925"/>
            <a:ext cx="2422208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New booking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41408" y="3040380"/>
            <a:ext cx="496333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For first-time and exploring customers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3672840"/>
            <a:ext cx="1562100" cy="1295400"/>
            <a:chOff x="0" y="0"/>
            <a:chExt cx="2082800" cy="172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1833372" y="0"/>
                  </a:lnTo>
                  <a:cubicBezTo>
                    <a:pt x="1971167" y="0"/>
                    <a:pt x="2082800" y="111633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167" y="1727073"/>
                    <a:pt x="1833372" y="1727073"/>
                  </a:cubicBezTo>
                  <a:lnTo>
                    <a:pt x="249428" y="1727073"/>
                  </a:lnTo>
                  <a:cubicBezTo>
                    <a:pt x="111633" y="1727200"/>
                    <a:pt x="0" y="1615567"/>
                    <a:pt x="0" y="1477772"/>
                  </a:cubicBezTo>
                  <a:close/>
                </a:path>
              </a:pathLst>
            </a:custGeom>
            <a:solidFill>
              <a:srgbClr val="231F1E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7F1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Open app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7432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62300" y="3672840"/>
            <a:ext cx="1562100" cy="1295400"/>
            <a:chOff x="0" y="0"/>
            <a:chExt cx="2082800" cy="172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760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294" y="1727073"/>
                    <a:pt x="1833626" y="1727073"/>
                  </a:cubicBezTo>
                  <a:lnTo>
                    <a:pt x="249174" y="1727073"/>
                  </a:lnTo>
                  <a:cubicBezTo>
                    <a:pt x="111506" y="1727200"/>
                    <a:pt x="0" y="1615440"/>
                    <a:pt x="0" y="1477772"/>
                  </a:cubicBezTo>
                  <a:lnTo>
                    <a:pt x="0" y="249428"/>
                  </a:lnTo>
                  <a:cubicBezTo>
                    <a:pt x="0" y="111760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Book appointment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863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05400" y="3672840"/>
            <a:ext cx="1562100" cy="1295400"/>
            <a:chOff x="0" y="0"/>
            <a:chExt cx="2082800" cy="172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760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294" y="1727073"/>
                    <a:pt x="1833626" y="1727073"/>
                  </a:cubicBezTo>
                  <a:lnTo>
                    <a:pt x="249174" y="1727073"/>
                  </a:lnTo>
                  <a:cubicBezTo>
                    <a:pt x="111506" y="1727200"/>
                    <a:pt x="0" y="1615440"/>
                    <a:pt x="0" y="1477772"/>
                  </a:cubicBezTo>
                  <a:lnTo>
                    <a:pt x="0" y="249428"/>
                  </a:lnTo>
                  <a:cubicBezTo>
                    <a:pt x="0" y="111760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Select gender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294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048500" y="3672840"/>
            <a:ext cx="1562100" cy="1295400"/>
            <a:chOff x="0" y="0"/>
            <a:chExt cx="2082800" cy="172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760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294" y="1727073"/>
                    <a:pt x="1833626" y="1727073"/>
                  </a:cubicBezTo>
                  <a:lnTo>
                    <a:pt x="249174" y="1727073"/>
                  </a:lnTo>
                  <a:cubicBezTo>
                    <a:pt x="111506" y="1727200"/>
                    <a:pt x="0" y="1615440"/>
                    <a:pt x="0" y="1477772"/>
                  </a:cubicBezTo>
                  <a:lnTo>
                    <a:pt x="0" y="249428"/>
                  </a:lnTo>
                  <a:cubicBezTo>
                    <a:pt x="0" y="111760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Select service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5725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91600" y="3672840"/>
            <a:ext cx="1562100" cy="1295400"/>
            <a:chOff x="0" y="0"/>
            <a:chExt cx="2082800" cy="172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760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294" y="1727073"/>
                    <a:pt x="1833626" y="1727073"/>
                  </a:cubicBezTo>
                  <a:lnTo>
                    <a:pt x="249174" y="1727073"/>
                  </a:lnTo>
                  <a:cubicBezTo>
                    <a:pt x="111506" y="1727200"/>
                    <a:pt x="0" y="1615440"/>
                    <a:pt x="0" y="1477772"/>
                  </a:cubicBezTo>
                  <a:lnTo>
                    <a:pt x="0" y="249428"/>
                  </a:lnTo>
                  <a:cubicBezTo>
                    <a:pt x="0" y="111760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Select stylist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156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34700" y="3672840"/>
            <a:ext cx="1562100" cy="1295400"/>
            <a:chOff x="0" y="0"/>
            <a:chExt cx="2082800" cy="172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1833372" y="0"/>
                  </a:lnTo>
                  <a:cubicBezTo>
                    <a:pt x="1971167" y="0"/>
                    <a:pt x="2082800" y="111633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167" y="1727073"/>
                    <a:pt x="1833372" y="1727073"/>
                  </a:cubicBezTo>
                  <a:lnTo>
                    <a:pt x="249428" y="1727073"/>
                  </a:lnTo>
                  <a:cubicBezTo>
                    <a:pt x="111633" y="1727200"/>
                    <a:pt x="0" y="1615567"/>
                    <a:pt x="0" y="1477772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Date &amp; time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4587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77800" y="3672840"/>
            <a:ext cx="1562100" cy="1295400"/>
            <a:chOff x="0" y="0"/>
            <a:chExt cx="2082800" cy="172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1833372" y="0"/>
                  </a:lnTo>
                  <a:cubicBezTo>
                    <a:pt x="1971167" y="0"/>
                    <a:pt x="2082800" y="111633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167" y="1727073"/>
                    <a:pt x="1833372" y="1727073"/>
                  </a:cubicBezTo>
                  <a:lnTo>
                    <a:pt x="249428" y="1727073"/>
                  </a:lnTo>
                  <a:cubicBezTo>
                    <a:pt x="111633" y="1727200"/>
                    <a:pt x="0" y="1615567"/>
                    <a:pt x="0" y="1477772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Confirm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booking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401800" y="409384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820900" y="3672840"/>
            <a:ext cx="1562100" cy="1295400"/>
            <a:chOff x="0" y="0"/>
            <a:chExt cx="2082800" cy="1727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2800" cy="1727073"/>
            </a:xfrm>
            <a:custGeom>
              <a:avLst/>
              <a:gdLst/>
              <a:ahLst/>
              <a:cxnLst/>
              <a:rect r="r" b="b" t="t" l="l"/>
              <a:pathLst>
                <a:path h="1727073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760"/>
                    <a:pt x="2082800" y="249428"/>
                  </a:cubicBezTo>
                  <a:lnTo>
                    <a:pt x="2082800" y="1477645"/>
                  </a:lnTo>
                  <a:cubicBezTo>
                    <a:pt x="2082800" y="1615440"/>
                    <a:pt x="1971294" y="1727073"/>
                    <a:pt x="1833626" y="1727073"/>
                  </a:cubicBezTo>
                  <a:lnTo>
                    <a:pt x="249174" y="1727073"/>
                  </a:lnTo>
                  <a:cubicBezTo>
                    <a:pt x="111506" y="1727200"/>
                    <a:pt x="0" y="1615440"/>
                    <a:pt x="0" y="1477772"/>
                  </a:cubicBezTo>
                  <a:lnTo>
                    <a:pt x="0" y="249428"/>
                  </a:lnTo>
                  <a:cubicBezTo>
                    <a:pt x="0" y="111760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A64B1A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082800" cy="172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7F1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Booking done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19200" y="5244465"/>
            <a:ext cx="1495187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Rebook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14387" y="5455920"/>
            <a:ext cx="311381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For returning customers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9200" y="6088380"/>
            <a:ext cx="1562100" cy="1021080"/>
            <a:chOff x="0" y="0"/>
            <a:chExt cx="2082800" cy="136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0" y="249936"/>
                  </a:moveTo>
                  <a:cubicBezTo>
                    <a:pt x="0" y="111887"/>
                    <a:pt x="111887" y="0"/>
                    <a:pt x="249936" y="0"/>
                  </a:cubicBezTo>
                  <a:lnTo>
                    <a:pt x="1832864" y="0"/>
                  </a:lnTo>
                  <a:cubicBezTo>
                    <a:pt x="1970913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0913" y="1361440"/>
                    <a:pt x="1832864" y="1361440"/>
                  </a:cubicBezTo>
                  <a:lnTo>
                    <a:pt x="249936" y="1361440"/>
                  </a:lnTo>
                  <a:cubicBezTo>
                    <a:pt x="111887" y="1361440"/>
                    <a:pt x="0" y="1249553"/>
                    <a:pt x="0" y="1111504"/>
                  </a:cubicBezTo>
                  <a:close/>
                </a:path>
              </a:pathLst>
            </a:custGeom>
            <a:solidFill>
              <a:srgbClr val="231F1E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7F1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Open app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7432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162300" y="6088380"/>
            <a:ext cx="1562100" cy="1021080"/>
            <a:chOff x="0" y="0"/>
            <a:chExt cx="2082800" cy="1361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1294" y="1361440"/>
                    <a:pt x="1833626" y="1361440"/>
                  </a:cubicBezTo>
                  <a:lnTo>
                    <a:pt x="249174" y="1361440"/>
                  </a:lnTo>
                  <a:cubicBezTo>
                    <a:pt x="111506" y="1361440"/>
                    <a:pt x="0" y="1249553"/>
                    <a:pt x="0" y="1111504"/>
                  </a:cubicBezTo>
                  <a:lnTo>
                    <a:pt x="0" y="249936"/>
                  </a:lnTo>
                  <a:cubicBezTo>
                    <a:pt x="0" y="111887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My bookings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6863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105400" y="6088380"/>
            <a:ext cx="1562100" cy="1021080"/>
            <a:chOff x="0" y="0"/>
            <a:chExt cx="2082800" cy="1361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1294" y="1361440"/>
                    <a:pt x="1833626" y="1361440"/>
                  </a:cubicBezTo>
                  <a:lnTo>
                    <a:pt x="249174" y="1361440"/>
                  </a:lnTo>
                  <a:cubicBezTo>
                    <a:pt x="111506" y="1361440"/>
                    <a:pt x="0" y="1249553"/>
                    <a:pt x="0" y="1111504"/>
                  </a:cubicBezTo>
                  <a:lnTo>
                    <a:pt x="0" y="249936"/>
                  </a:lnTo>
                  <a:cubicBezTo>
                    <a:pt x="0" y="111887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Previous tab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6294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048500" y="6088380"/>
            <a:ext cx="1562100" cy="1021080"/>
            <a:chOff x="0" y="0"/>
            <a:chExt cx="2082800" cy="1361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1294" y="1361440"/>
                    <a:pt x="1833626" y="1361440"/>
                  </a:cubicBezTo>
                  <a:lnTo>
                    <a:pt x="249174" y="1361440"/>
                  </a:lnTo>
                  <a:cubicBezTo>
                    <a:pt x="111506" y="1361440"/>
                    <a:pt x="0" y="1249553"/>
                    <a:pt x="0" y="1111504"/>
                  </a:cubicBezTo>
                  <a:lnTo>
                    <a:pt x="0" y="249936"/>
                  </a:lnTo>
                  <a:cubicBezTo>
                    <a:pt x="0" y="111887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Rebook service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5725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991600" y="6088380"/>
            <a:ext cx="1562100" cy="1021080"/>
            <a:chOff x="0" y="0"/>
            <a:chExt cx="2082800" cy="1361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0" y="249936"/>
                  </a:moveTo>
                  <a:cubicBezTo>
                    <a:pt x="0" y="111887"/>
                    <a:pt x="111887" y="0"/>
                    <a:pt x="249936" y="0"/>
                  </a:cubicBezTo>
                  <a:lnTo>
                    <a:pt x="1832864" y="0"/>
                  </a:lnTo>
                  <a:cubicBezTo>
                    <a:pt x="1970913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0913" y="1361440"/>
                    <a:pt x="1832864" y="1361440"/>
                  </a:cubicBezTo>
                  <a:lnTo>
                    <a:pt x="249936" y="1361440"/>
                  </a:lnTo>
                  <a:cubicBezTo>
                    <a:pt x="111887" y="1361440"/>
                    <a:pt x="0" y="1249553"/>
                    <a:pt x="0" y="1111504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Date &amp; time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5156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934700" y="6088380"/>
            <a:ext cx="1562100" cy="1021080"/>
            <a:chOff x="0" y="0"/>
            <a:chExt cx="2082800" cy="1361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1294" y="1361440"/>
                    <a:pt x="1833626" y="1361440"/>
                  </a:cubicBezTo>
                  <a:lnTo>
                    <a:pt x="249174" y="1361440"/>
                  </a:lnTo>
                  <a:cubicBezTo>
                    <a:pt x="111506" y="1361440"/>
                    <a:pt x="0" y="1249553"/>
                    <a:pt x="0" y="1111504"/>
                  </a:cubicBezTo>
                  <a:lnTo>
                    <a:pt x="0" y="249936"/>
                  </a:lnTo>
                  <a:cubicBezTo>
                    <a:pt x="0" y="111887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FFF9F5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31F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Confirm booking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458700" y="6372225"/>
            <a:ext cx="4572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877800" y="6088380"/>
            <a:ext cx="1562100" cy="1021080"/>
            <a:chOff x="0" y="0"/>
            <a:chExt cx="2082800" cy="1361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2800" cy="1361440"/>
            </a:xfrm>
            <a:custGeom>
              <a:avLst/>
              <a:gdLst/>
              <a:ahLst/>
              <a:cxnLst/>
              <a:rect r="r" b="b" t="t" l="l"/>
              <a:pathLst>
                <a:path h="1361440" w="2082800">
                  <a:moveTo>
                    <a:pt x="249174" y="0"/>
                  </a:moveTo>
                  <a:lnTo>
                    <a:pt x="1833626" y="0"/>
                  </a:lnTo>
                  <a:cubicBezTo>
                    <a:pt x="1971294" y="0"/>
                    <a:pt x="2082800" y="111887"/>
                    <a:pt x="2082800" y="249936"/>
                  </a:cubicBezTo>
                  <a:lnTo>
                    <a:pt x="2082800" y="1111504"/>
                  </a:lnTo>
                  <a:cubicBezTo>
                    <a:pt x="2082800" y="1249553"/>
                    <a:pt x="1971294" y="1361440"/>
                    <a:pt x="1833626" y="1361440"/>
                  </a:cubicBezTo>
                  <a:lnTo>
                    <a:pt x="249174" y="1361440"/>
                  </a:lnTo>
                  <a:cubicBezTo>
                    <a:pt x="111506" y="1361440"/>
                    <a:pt x="0" y="1249553"/>
                    <a:pt x="0" y="1111504"/>
                  </a:cubicBezTo>
                  <a:lnTo>
                    <a:pt x="0" y="249936"/>
                  </a:lnTo>
                  <a:cubicBezTo>
                    <a:pt x="0" y="111887"/>
                    <a:pt x="111506" y="0"/>
                    <a:pt x="249174" y="0"/>
                  </a:cubicBezTo>
                  <a:close/>
                </a:path>
              </a:pathLst>
            </a:custGeom>
            <a:solidFill>
              <a:srgbClr val="A64B1A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082800" cy="136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7F1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Booking done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219200" y="741426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On the confirmation page, customers review their selections and confirm to complete the booking.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6320">
            <a:off x="1209656" y="2900362"/>
            <a:ext cx="401959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19200" y="7101845"/>
            <a:ext cx="685800" cy="685800"/>
            <a:chOff x="0" y="0"/>
            <a:chExt cx="9144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09679" y="4671072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14900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9200" y="5863595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8A7A3"/>
              </a:solidFill>
              <a:prstDash val="solid"/>
              <a:miter/>
            </a:ln>
          </p:spPr>
        </p:sp>
      </p:grpSp>
      <p:sp>
        <p:nvSpPr>
          <p:cNvPr name="AutoShape 9" id="9"/>
          <p:cNvSpPr/>
          <p:nvPr/>
        </p:nvSpPr>
        <p:spPr>
          <a:xfrm rot="16320">
            <a:off x="5819756" y="2900362"/>
            <a:ext cx="401959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0680">
            <a:off x="10429856" y="2900362"/>
            <a:ext cx="611507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429871" y="3726180"/>
            <a:ext cx="4251383" cy="3451870"/>
          </a:xfrm>
          <a:custGeom>
            <a:avLst/>
            <a:gdLst/>
            <a:ahLst/>
            <a:cxnLst/>
            <a:rect r="r" b="b" t="t" l="l"/>
            <a:pathLst>
              <a:path h="3451870" w="4251383">
                <a:moveTo>
                  <a:pt x="0" y="0"/>
                </a:moveTo>
                <a:lnTo>
                  <a:pt x="4251383" y="0"/>
                </a:lnTo>
                <a:lnTo>
                  <a:pt x="4251383" y="3451870"/>
                </a:lnTo>
                <a:lnTo>
                  <a:pt x="0" y="3451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29871" y="7293932"/>
            <a:ext cx="6543465" cy="1641688"/>
          </a:xfrm>
          <a:custGeom>
            <a:avLst/>
            <a:gdLst/>
            <a:ahLst/>
            <a:cxnLst/>
            <a:rect r="r" b="b" t="t" l="l"/>
            <a:pathLst>
              <a:path h="1641688" w="6543465">
                <a:moveTo>
                  <a:pt x="0" y="0"/>
                </a:moveTo>
                <a:lnTo>
                  <a:pt x="6543465" y="0"/>
                </a:lnTo>
                <a:lnTo>
                  <a:pt x="6543465" y="1641688"/>
                </a:lnTo>
                <a:lnTo>
                  <a:pt x="0" y="164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9200" y="11811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06 — DESIGN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1929775"/>
            <a:ext cx="16325088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 quiet, warm and consistent visual language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3101350"/>
            <a:ext cx="41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COLOR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5500" y="7255832"/>
            <a:ext cx="106119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9216" y="4825059"/>
            <a:ext cx="107748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#A14900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95500" y="6017582"/>
            <a:ext cx="112216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29300" y="3101350"/>
            <a:ext cx="41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TYPOGRAPHY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29300" y="3897630"/>
            <a:ext cx="412051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29300" y="4935855"/>
            <a:ext cx="412051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Cormorant Garamond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29300" y="5486400"/>
            <a:ext cx="41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Display · headings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29300" y="6358900"/>
            <a:ext cx="412051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Aa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29300" y="7206625"/>
            <a:ext cx="412051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29300" y="7757160"/>
            <a:ext cx="41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5F5C"/>
                </a:solidFill>
                <a:latin typeface="Inter"/>
                <a:ea typeface="Inter"/>
                <a:cs typeface="Inter"/>
                <a:sym typeface="Inter"/>
              </a:rPr>
              <a:t>Interface · body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39400" y="3101350"/>
            <a:ext cx="62788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COMPONENTS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980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02050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0639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40" y="0"/>
                </a:lnTo>
                <a:lnTo>
                  <a:pt x="2042340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39229" y="2923345"/>
            <a:ext cx="882512" cy="4440310"/>
          </a:xfrm>
          <a:custGeom>
            <a:avLst/>
            <a:gdLst/>
            <a:ahLst/>
            <a:cxnLst/>
            <a:rect r="r" b="b" t="t" l="l"/>
            <a:pathLst>
              <a:path h="4440310" w="882512">
                <a:moveTo>
                  <a:pt x="0" y="0"/>
                </a:moveTo>
                <a:lnTo>
                  <a:pt x="882511" y="0"/>
                </a:lnTo>
                <a:lnTo>
                  <a:pt x="882511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97990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40" y="0"/>
                </a:lnTo>
                <a:lnTo>
                  <a:pt x="2042340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16580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35169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9200" y="11811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07 — WIREFRAMES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9383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40" y="0"/>
                </a:lnTo>
                <a:lnTo>
                  <a:pt x="2042340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61884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23348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40" y="0"/>
                </a:lnTo>
                <a:lnTo>
                  <a:pt x="2042340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84813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39" y="0"/>
                </a:lnTo>
                <a:lnTo>
                  <a:pt x="2042339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46277" y="2923345"/>
            <a:ext cx="2042339" cy="4440310"/>
          </a:xfrm>
          <a:custGeom>
            <a:avLst/>
            <a:gdLst/>
            <a:ahLst/>
            <a:cxnLst/>
            <a:rect r="r" b="b" t="t" l="l"/>
            <a:pathLst>
              <a:path h="4440310" w="2042339">
                <a:moveTo>
                  <a:pt x="0" y="0"/>
                </a:moveTo>
                <a:lnTo>
                  <a:pt x="2042340" y="0"/>
                </a:lnTo>
                <a:lnTo>
                  <a:pt x="2042340" y="4440310"/>
                </a:lnTo>
                <a:lnTo>
                  <a:pt x="0" y="4440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1600" y="13335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07 — WIREFRAMES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856" y="3126105"/>
            <a:ext cx="2819550" cy="493776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93670" y="3126105"/>
            <a:ext cx="2819550" cy="493776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204610" y="3126105"/>
            <a:ext cx="2819550" cy="493776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40805" y="3126105"/>
            <a:ext cx="2819550" cy="493776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75545" y="3126105"/>
            <a:ext cx="2819550" cy="493776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586485" y="3126105"/>
            <a:ext cx="2819550" cy="493776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136218" y="3126105"/>
            <a:ext cx="2819550" cy="493776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19200" y="8763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9A5F5C"/>
                </a:solidFill>
                <a:latin typeface="Inter Bold"/>
                <a:ea typeface="Inter Bold"/>
                <a:cs typeface="Inter Bold"/>
                <a:sym typeface="Inter Bold"/>
              </a:rPr>
              <a:t>08 — THE CORE BOOKING EXPERIENCE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1838325"/>
            <a:ext cx="8829675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From discovery to booking done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2800" y="1463040"/>
            <a:ext cx="627888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A focused booking journey moves customers from service discovery to confirmation without unnecessary steps.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8830" y="2804160"/>
            <a:ext cx="43160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656" y="7880985"/>
            <a:ext cx="1885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BOOK APPOINTMENT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60086" y="5270182"/>
            <a:ext cx="377904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69011" y="2804160"/>
            <a:ext cx="46886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0470" y="7880985"/>
            <a:ext cx="18859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SELECT GENDER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68415" y="5270182"/>
            <a:ext cx="37779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0197" y="2804160"/>
            <a:ext cx="4619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5545" y="7880985"/>
            <a:ext cx="19658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SELECT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3530" y="5270182"/>
            <a:ext cx="377904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03049" y="2804160"/>
            <a:ext cx="4950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1970" y="7880985"/>
            <a:ext cx="192406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SELECT STYLIST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77450" y="5270182"/>
            <a:ext cx="37779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48981" y="2804160"/>
            <a:ext cx="4726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5155" y="7880985"/>
            <a:ext cx="1885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SELECT DATE &amp; TIME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50290" y="5270182"/>
            <a:ext cx="37779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44979" y="2804160"/>
            <a:ext cx="50256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09466" y="7880985"/>
            <a:ext cx="220554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CONFIRM BOOKING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82232" y="5270182"/>
            <a:ext cx="37779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D8A7A3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304356" y="2804160"/>
            <a:ext cx="48327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12161" y="7880985"/>
            <a:ext cx="183212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BOOKING DONE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52907" y="2674620"/>
            <a:ext cx="2819550" cy="493776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50915" y="2674620"/>
            <a:ext cx="2819550" cy="493776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52306" y="2674620"/>
            <a:ext cx="2819550" cy="493776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49007" y="2674620"/>
            <a:ext cx="2819550" cy="493776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650397" y="2674620"/>
            <a:ext cx="2819550" cy="493776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19200" y="1181100"/>
            <a:ext cx="1632508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D8A7A3"/>
                </a:solidFill>
                <a:latin typeface="Inter Bold"/>
                <a:ea typeface="Inter Bold"/>
                <a:cs typeface="Inter Bold"/>
                <a:sym typeface="Inter Bold"/>
              </a:rPr>
              <a:t>09 — DESIGNING FOR REPEAT CUSTOMERS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2181225"/>
            <a:ext cx="5017889" cy="124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2"/>
              </a:lnSpc>
            </a:pPr>
            <a:r>
              <a:rPr lang="en-US" sz="10002">
                <a:solidFill>
                  <a:srgbClr val="D8A7A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REBOOK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3438630"/>
            <a:ext cx="4326180" cy="29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>
                <a:solidFill>
                  <a:srgbClr val="F7F1E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Not every booking needs to start from zero.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4130780"/>
            <a:ext cx="290312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00">
                <a:solidFill>
                  <a:srgbClr val="F7F1EA"/>
                </a:solidFill>
                <a:latin typeface="Inter"/>
                <a:ea typeface="Inter"/>
                <a:cs typeface="Inter"/>
                <a:sym typeface="Inter"/>
              </a:rPr>
              <a:t>Faster repeat bookings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4717520"/>
            <a:ext cx="2603502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00">
                <a:solidFill>
                  <a:srgbClr val="F7F1EA"/>
                </a:solidFill>
                <a:latin typeface="Inter"/>
                <a:ea typeface="Inter"/>
                <a:cs typeface="Inter"/>
                <a:sym typeface="Inter"/>
              </a:rPr>
              <a:t>Less decision-making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5304260"/>
            <a:ext cx="4181518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600">
                <a:solidFill>
                  <a:srgbClr val="F7F1EA"/>
                </a:solidFill>
                <a:latin typeface="Inter"/>
                <a:ea typeface="Inter"/>
                <a:cs typeface="Inter"/>
                <a:sym typeface="Inter"/>
              </a:rPr>
              <a:t>Better convenience for returning customers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62582" y="2019343"/>
            <a:ext cx="16002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1EA"/>
                </a:solidFill>
                <a:latin typeface="Inter Bold"/>
                <a:ea typeface="Inter Bold"/>
                <a:cs typeface="Inter Bold"/>
                <a:sym typeface="Inter Bold"/>
              </a:rPr>
              <a:t>01 REBOOK PREVIOUS 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0590" y="7467600"/>
            <a:ext cx="16002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1EA"/>
                </a:solidFill>
                <a:latin typeface="Inter Bold"/>
                <a:ea typeface="Inter Bold"/>
                <a:cs typeface="Inter Bold"/>
                <a:sym typeface="Inter Bold"/>
              </a:rPr>
              <a:t>02 SELECT PREVIOUS 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1981" y="2152693"/>
            <a:ext cx="16002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1EA"/>
                </a:solidFill>
                <a:latin typeface="Inter Bold"/>
                <a:ea typeface="Inter Bold"/>
                <a:cs typeface="Inter Bold"/>
                <a:sym typeface="Inter Bold"/>
              </a:rPr>
              <a:t>03 SELECT DATE &amp;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8682" y="7467600"/>
            <a:ext cx="16002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1EA"/>
                </a:solidFill>
                <a:latin typeface="Inter Bold"/>
                <a:ea typeface="Inter Bold"/>
                <a:cs typeface="Inter Bold"/>
                <a:sym typeface="Inter Bold"/>
              </a:rPr>
              <a:t>04 CONFIRM BOOKING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60072" y="2152693"/>
            <a:ext cx="16002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7F1EA"/>
                </a:solidFill>
                <a:latin typeface="Inter Bold"/>
                <a:ea typeface="Inter Bold"/>
                <a:cs typeface="Inter Bold"/>
                <a:sym typeface="Inter Bold"/>
              </a:rPr>
              <a:t>05 BOOKING DONE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" y="5931640"/>
            <a:ext cx="455905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>
                <a:solidFill>
                  <a:srgbClr val="D8A7A3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Designed for the second booking, not just the first.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8112" y="3201834"/>
            <a:ext cx="3772747" cy="660705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60137" y="3201834"/>
            <a:ext cx="3772747" cy="660705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42163" y="3201834"/>
            <a:ext cx="3772747" cy="660705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24188" y="3201834"/>
            <a:ext cx="3772747" cy="660705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06213" y="3201834"/>
            <a:ext cx="3772747" cy="660705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19200" y="1501150"/>
            <a:ext cx="1632508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Designed to feel as effortless as the service itself.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2468452"/>
            <a:ext cx="36591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Clear service pricing &amp; duration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46511" y="2468452"/>
            <a:ext cx="305612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Simple booking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0796" y="2468452"/>
            <a:ext cx="204063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Stylist selection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8207" y="2468452"/>
            <a:ext cx="323703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Date &amp; time availability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2765632"/>
            <a:ext cx="36591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Booking confirmation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46511" y="2765632"/>
            <a:ext cx="305612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Upcoming appointments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0796" y="2765632"/>
            <a:ext cx="204063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Reminders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8207" y="2765632"/>
            <a:ext cx="323703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64B1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18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 Previous-service rebooking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8112" y="1839973"/>
            <a:ext cx="3772747" cy="660705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60137" y="1839973"/>
            <a:ext cx="3772747" cy="660705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42163" y="1839973"/>
            <a:ext cx="3772747" cy="660705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24188" y="1839973"/>
            <a:ext cx="3772747" cy="660705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06213" y="1839973"/>
            <a:ext cx="3772747" cy="66070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8112" y="1839973"/>
            <a:ext cx="3772747" cy="660705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60137" y="1839973"/>
            <a:ext cx="3772747" cy="660705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42163" y="1839973"/>
            <a:ext cx="3772747" cy="660705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24188" y="1839973"/>
            <a:ext cx="3772747" cy="660705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06213" y="1839973"/>
            <a:ext cx="3772747" cy="66070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8A7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8110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10 — OUTCOME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939300"/>
            <a:ext cx="16325088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0"/>
              </a:lnSpc>
            </a:pPr>
            <a:r>
              <a:rPr lang="en-US" sz="6600">
                <a:solidFill>
                  <a:srgbClr val="231F1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 simpler way to book better.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3099435"/>
            <a:ext cx="981075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LUMÉ transforms a fragmented salon booking process into a clear, convenient and repeatable mobile experience.</a:t>
            </a:r>
          </a:p>
        </p:txBody>
      </p:sp>
      <p:sp>
        <p:nvSpPr>
          <p:cNvPr name="AutoShape 5" id="5"/>
          <p:cNvSpPr/>
          <p:nvPr/>
        </p:nvSpPr>
        <p:spPr>
          <a:xfrm rot="13080">
            <a:off x="1209656" y="4348162"/>
            <a:ext cx="4997444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19200" y="4663450"/>
            <a:ext cx="512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A64B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5196850"/>
            <a:ext cx="51277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CLARITY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5640705"/>
            <a:ext cx="5127708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Customers understand services before booking.</a:t>
            </a:r>
          </a:p>
        </p:txBody>
      </p:sp>
      <p:sp>
        <p:nvSpPr>
          <p:cNvPr name="AutoShape 9" id="9"/>
          <p:cNvSpPr/>
          <p:nvPr/>
        </p:nvSpPr>
        <p:spPr>
          <a:xfrm rot="13080">
            <a:off x="6645221" y="4348162"/>
            <a:ext cx="4997567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654765" y="4663450"/>
            <a:ext cx="512783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A64B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4765" y="5196850"/>
            <a:ext cx="512783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CONVENIENCE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54765" y="5640705"/>
            <a:ext cx="5127831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Customers can book and manage appointments in fewer steps.</a:t>
            </a:r>
          </a:p>
        </p:txBody>
      </p:sp>
      <p:sp>
        <p:nvSpPr>
          <p:cNvPr name="AutoShape 13" id="13"/>
          <p:cNvSpPr/>
          <p:nvPr/>
        </p:nvSpPr>
        <p:spPr>
          <a:xfrm rot="13080">
            <a:off x="12080900" y="4348162"/>
            <a:ext cx="4997444" cy="0"/>
          </a:xfrm>
          <a:prstGeom prst="line">
            <a:avLst/>
          </a:prstGeom>
          <a:ln cap="rnd" w="9525">
            <a:solidFill>
              <a:srgbClr val="231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090435" y="4663450"/>
            <a:ext cx="512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A64B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0435" y="5196850"/>
            <a:ext cx="51277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CONTINUITY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0435" y="5640705"/>
            <a:ext cx="5127708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31F1E"/>
                </a:solidFill>
                <a:latin typeface="Inter"/>
                <a:ea typeface="Inter"/>
                <a:cs typeface="Inter"/>
                <a:sym typeface="Inter"/>
              </a:rPr>
              <a:t>Returning customers can quickly rebook previous services.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" y="685228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i="true">
                <a:solidFill>
                  <a:srgbClr val="231F1E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Discover. Book. Relax. Repeat.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" y="9319260"/>
            <a:ext cx="163250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31F1E"/>
                </a:solidFill>
                <a:latin typeface="Inter Bold"/>
                <a:ea typeface="Inter Bold"/>
                <a:cs typeface="Inter Bold"/>
                <a:sym typeface="Inter Bold"/>
              </a:rPr>
              <a:t>LUMÉ  ·  Mobile Appointment Booking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DAHXPrsIwXk</dc:identifier>
  <dcterms:modified xsi:type="dcterms:W3CDTF">2011-08-01T06:04:30Z</dcterms:modified>
  <cp:revision>1</cp:revision>
  <dc:title>LUMÉ — Salon Appointment app.pptx</dc:title>
</cp:coreProperties>
</file>